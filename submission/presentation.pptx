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Intelligence Digest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AABB"/>
                </a:solidFill>
              </a:defRPr>
            </a:pPr>
            <a:r>
              <a:t>ИИ-помощник для персонализированной информационной разведки ИТ/ИБ в энергетике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338328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060"/>
                </a:solidFill>
              </a:defRPr>
            </a:pPr>
            <a:r>
              <a:t>Проблема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Сотни публикаций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Дубли одного события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Разные интересы ИБ и руководства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Ручная сборка дайджеста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338328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Решение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Собираем публикации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Ранжируем под профиль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Объединяем в события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Объясняем отбор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Экспортируем Markdown / DOCX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338328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A6FF"/>
                </a:solidFill>
              </a:defRPr>
            </a:pPr>
            <a:r>
              <a:t>Отличие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Event-centric, не article-centric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Organizer-aligned scoring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Два output-contract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Model-agnostic architecture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Offline-safe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Что увидит пользователь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AABB"/>
                </a:solidFill>
              </a:defRPr>
            </a:pPr>
            <a:r>
              <a:t>Один и тот же поток -&gt; разные решения для разных ролей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060"/>
                </a:solidFill>
              </a:defRPr>
            </a:pPr>
            <a:r>
              <a:t>ИБ / ИТ специалист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CVE, CVSS, exploit/PoC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Атаки и уязвимости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SCADA / КИИ / энергетика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Технические признаки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Ссылки на первоисточники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CIO / руководство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Бизнес-события вместо статей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Финансовые и имиджевые риски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Критическая инфраструктура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Госсектор / регулирование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Короткий executive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AABB"/>
                </a:solidFill>
              </a:defRPr>
            </a:pPr>
            <a:r>
              <a:t>LLM - заменяемый компонент, а не единственная логика системы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1691640" cy="237744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A6FF"/>
                </a:solidFill>
              </a:defRPr>
            </a:pPr>
            <a:r>
              <a:t>01  Sources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RSS / HTML /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1448" y="1965960"/>
            <a:ext cx="1691640" cy="237744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02  Retrieve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lexical + semantic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965960"/>
            <a:ext cx="1691640" cy="237744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03  Rank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importance + interests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8504" y="1965960"/>
            <a:ext cx="1691640" cy="237744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04  Fuse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dedup + clustering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7032" y="1965960"/>
            <a:ext cx="1691640" cy="237744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A6FF"/>
                </a:solidFill>
              </a:defRPr>
            </a:pPr>
            <a:r>
              <a:t>05  Enrich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technical / executive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95560" y="1965960"/>
            <a:ext cx="1691640" cy="237744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A6FF"/>
                </a:solidFill>
              </a:defRPr>
            </a:pPr>
            <a:r>
              <a:t>06  Deliver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UI / MD / DOCX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800600"/>
            <a:ext cx="8138160" cy="96012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9AABB"/>
                </a:solidFill>
              </a:defRPr>
            </a:pPr>
            <a:r>
              <a:t>Grounded + explainable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Score, причины отбора и ссылки сохраняются; offline fallback не зависит от доступности внешней модели.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Мы выровняли решение по XLSX организаторов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AABB"/>
                </a:solidFill>
              </a:defRPr>
            </a:pPr>
            <a:r>
              <a:t>21 golden example: 10 technical + 11 executive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20440" cy="429768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060"/>
                </a:solidFill>
              </a:defRPr>
            </a:pPr>
            <a:r>
              <a:t>Technical contract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Категории: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• Атака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• Уязвимость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• Инфо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Приоритет: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РФ + энергетика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exploit / PoC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critical severity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520440" cy="429768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Executive contract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12 бизнес-тегов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РФ / вне РФ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финансовые потери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КИИ / энергетика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промышленность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утечки / имидж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регулирование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520440" cy="429768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A6FF"/>
                </a:solidFill>
              </a:defRPr>
            </a:pPr>
            <a:r>
              <a:t>Архитектурный вывод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Event clustering обязателен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Две аудитории != один prompt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Энергетика - ranking signal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Golden dataset хранится в repo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Метрики воспроизводимы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Explainable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AABB"/>
                </a:solidFill>
              </a:defRPr>
            </a:pPr>
            <a:r>
              <a:t>Не скрываем решение модели за boolean relevant=true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937760" cy="438912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Сигналы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35% relevance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25% importance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20% user interest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10% novelty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10% source trust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Organizer boosts: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РФ • энергетика/КИИ • exploit/PoC • critical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438912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A6FF"/>
                </a:solidFill>
              </a:defRPr>
            </a:pPr>
            <a:r>
              <a:t>Что показываем в UI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Relevance score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Причины попадания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Structured details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Количество источников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Исходные URL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Это позволяет аналитику проверить систему, а не доверять black 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Воспроизводимость и устойчивость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AABB"/>
                </a:solidFill>
              </a:defRPr>
            </a:pPr>
            <a:r>
              <a:t>Прототип должен работать на ноутбуке жюри, даже если внешний API недоступен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29768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Offline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Frozen demo corpus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Детерминированный retrieval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Rule-based extraction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Нет обязательного API 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29768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A6FF"/>
                </a:solidFill>
              </a:defRPr>
            </a:pPr>
            <a:r>
              <a:t>Model swap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LLMProvider interface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OpenAI-compatible adapter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Qwen / gpt-oss сейчас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Яндекс в финале без переписывания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29768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060"/>
                </a:solidFill>
              </a:defRPr>
            </a:pPr>
            <a:r>
              <a:t>Quality gates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7 automated tests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Golden dataset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Precision@K / Recall@K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NDCG@K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Duplicate reduction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Demo flow: 3 минуты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AABB"/>
                </a:solidFill>
              </a:defRPr>
            </a:pPr>
            <a:r>
              <a:t>Показываем обязательные требования, затем техническое преимущество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3429000" cy="164592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0:00  Поток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6+ публикаций -&gt; события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00200"/>
            <a:ext cx="3429000" cy="164592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0:30  ИБ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CVE / ransomware / Kubernetes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600200"/>
            <a:ext cx="3429000" cy="164592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1:05  CIO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тот же corpus -&gt; AI / cloud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49039"/>
            <a:ext cx="3429000" cy="164592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A6FF"/>
                </a:solidFill>
              </a:defRPr>
            </a:pPr>
            <a:r>
              <a:t>1:40  Explain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score + причины +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749039"/>
            <a:ext cx="3429000" cy="164592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A6FF"/>
                </a:solidFill>
              </a:defRPr>
            </a:pPr>
            <a:r>
              <a:t>2:10  Export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DOCX / Markdown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749039"/>
            <a:ext cx="3429000" cy="164592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A6FF"/>
                </a:solidFill>
              </a:defRPr>
            </a:pPr>
            <a:r>
              <a:t>2:30  Architecture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event-centric + model-agnostic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Бизнес-эффект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AABB"/>
                </a:solidFill>
              </a:defRPr>
            </a:pPr>
            <a:r>
              <a:t>Ценность - сокращение ручного просмотра и повышение качества информационного фокуса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11480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060"/>
                </a:solidFill>
              </a:defRPr>
            </a:pPr>
            <a:r>
              <a:t>До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Разрозненные источники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Ручная фильтрация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Дубли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Один формат для всех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Сложно объяснить выбор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37360"/>
            <a:ext cx="3383280" cy="411480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После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Персональный ranking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События вместо дублей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Два уровня представления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Проверяемые источники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Feedback-ready профиль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383280" cy="411480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A6FF"/>
                </a:solidFill>
              </a:defRPr>
            </a:pPr>
            <a:r>
              <a:t>Путь в production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Scheduler + storage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RBAC / SSO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Source allowlist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Observability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Yandex models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Корпоративная интеграция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Почему это сильный полуфинальный прототип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AABB"/>
                </a:solidFill>
              </a:defRPr>
            </a:pPr>
            <a:r>
              <a:t>Мы закрываем требования задания и оставляем понятный путь до промышленного сервиса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291840" cy="429768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6D399"/>
                </a:solidFill>
              </a:defRPr>
            </a:pPr>
            <a:r>
              <a:t>Репрезентативность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Разные классы ИТ/ИБ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Golden examples организаторов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Technical + executive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Live connectors + frozen corpus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291840" cy="429768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5A6FF"/>
                </a:solidFill>
              </a:defRPr>
            </a:pPr>
            <a:r>
              <a:t>Техническая реализация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Hybrid retrieval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Explainable scoring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Event clustering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Structured extraction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Replaceable LLM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297680"/>
          </a:xfrm>
          <a:prstGeom prst="roundRect">
            <a:avLst/>
          </a:prstGeom>
          <a:solidFill>
            <a:srgbClr val="141D2A"/>
          </a:solidFill>
          <a:ln>
            <a:solidFill>
              <a:srgbClr val="2A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060"/>
                </a:solidFill>
              </a:defRPr>
            </a:pPr>
            <a:r>
              <a:t>Бизнес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Ролевой digest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Экономия внимания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Проверяемость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DOCX для рабочего процесса</a:t>
            </a:r>
          </a:p>
          <a:p>
            <a:pPr>
              <a:spcAft>
                <a:spcPts val="500"/>
              </a:spcAft>
              <a:defRPr sz="1150">
                <a:solidFill>
                  <a:srgbClr val="F0F4F8"/>
                </a:solidFill>
              </a:defRPr>
            </a:pPr>
            <a:r>
              <a:t>Готовность к интеграции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